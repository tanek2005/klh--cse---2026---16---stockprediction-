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754"/>
  </p:normalViewPr>
  <p:slideViewPr>
    <p:cSldViewPr snapToGrid="0" snapToObjects="1">
      <p:cViewPr varScale="1">
        <p:scale>
          <a:sx n="102" d="100"/>
          <a:sy n="102" d="100"/>
        </p:scale>
        <p:origin x="2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5677"/>
            <a:ext cx="12191695" cy="6858000"/>
          </a:xfrm>
          <a:prstGeom prst="rect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0" y="59436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0B2B2"/>
                </a:solidFill>
                <a:latin typeface="Aptos"/>
              </a:rPr>
              <a:t>CSE DEPARTMENT, KL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68980" y="1097280"/>
            <a:ext cx="5669280" cy="126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3800" b="1" dirty="0">
                <a:solidFill>
                  <a:srgbClr val="FAFAFA"/>
                </a:solidFill>
                <a:latin typeface="Georgia"/>
              </a:rPr>
              <a:t>Stock Market Prediction</a:t>
            </a:r>
            <a:endParaRPr sz="3800" b="1" i="0" dirty="0">
              <a:solidFill>
                <a:srgbClr val="FAFAFA"/>
              </a:solidFill>
              <a:latin typeface="Georg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60120" y="2423160"/>
            <a:ext cx="10287000" cy="1234440"/>
          </a:xfrm>
          <a:prstGeom prst="roundRect">
            <a:avLst/>
          </a:prstGeom>
          <a:solidFill>
            <a:srgbClr val="0C2544"/>
          </a:solidFill>
          <a:ln w="12700">
            <a:solidFill>
              <a:srgbClr val="00B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697480"/>
            <a:ext cx="9738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 i="1">
                <a:solidFill>
                  <a:srgbClr val="FAFAFA"/>
                </a:solidFill>
                <a:latin typeface="Aptos"/>
              </a:rPr>
              <a:t>Machine Learning Techniques for Stock Market Prediction Using Explainable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4023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0B2B2"/>
                </a:solidFill>
                <a:latin typeface="Aptos"/>
              </a:rPr>
              <a:t>REVIEW 1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521208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dirty="0">
                <a:solidFill>
                  <a:srgbClr val="FAFAFA"/>
                </a:solidFill>
                <a:latin typeface="Aptos"/>
              </a:rPr>
              <a:t>Team Members
</a:t>
            </a:r>
            <a:r>
              <a:rPr lang="en-US" sz="1500" dirty="0">
                <a:solidFill>
                  <a:srgbClr val="FAFAFA"/>
                </a:solidFill>
                <a:latin typeface="Aptos"/>
              </a:rPr>
              <a:t>Tanek Ghantasala</a:t>
            </a:r>
            <a:endParaRPr sz="1500" b="0" i="0" dirty="0">
              <a:solidFill>
                <a:srgbClr val="FAFAFA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60920" y="4526280"/>
            <a:ext cx="13716" cy="1051560"/>
          </a:xfrm>
          <a:prstGeom prst="rect">
            <a:avLst/>
          </a:prstGeom>
          <a:solidFill>
            <a:srgbClr val="00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45902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B2B2"/>
                </a:solidFill>
                <a:latin typeface="Aptos"/>
              </a:rPr>
              <a:t>Project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83480"/>
            <a:ext cx="3383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FAFAFA"/>
                </a:solidFill>
                <a:latin typeface="Aptos"/>
              </a:rPr>
              <a:t>Dr. K Swapnika</a:t>
            </a:r>
            <a:endParaRPr sz="1600" b="1" i="0" dirty="0">
              <a:solidFill>
                <a:srgbClr val="FAFAF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FAFAF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257800" cy="141732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8249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627632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C2544"/>
                </a:solidFill>
                <a:latin typeface="Aptos"/>
              </a:rPr>
              <a:t>Highly Volatile &amp; Non-Linear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039112"/>
            <a:ext cx="4069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Stock prices are influenced by complex temporal patterns, market conditions, trading activity, and external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257800" cy="141732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8249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27632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C2544"/>
                </a:solidFill>
                <a:latin typeface="Aptos"/>
              </a:rPr>
              <a:t>Prediction Without 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39112"/>
            <a:ext cx="4069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Many ML models can produce forecasts without clearly showing why a particular prediction was made.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39"/>
            <a:ext cx="5257800" cy="141732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520439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57015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502151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C2544"/>
                </a:solidFill>
                <a:latin typeface="Aptos"/>
              </a:rPr>
              <a:t>Model Selection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913631"/>
            <a:ext cx="4069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No single algorithm is guaranteed to perform best across stocks, periods, and market conditions.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91839"/>
            <a:ext cx="5257800" cy="141732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0" y="3520439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557015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502151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C2544"/>
                </a:solidFill>
                <a:latin typeface="Aptos"/>
              </a:rPr>
              <a:t>Generalization &amp; 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13631"/>
            <a:ext cx="4069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Random validation can leak future information, while black-box predictions reduce user confidence.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49240"/>
            <a:ext cx="11064240" cy="777240"/>
          </a:xfrm>
          <a:prstGeom prst="roundRect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550408"/>
            <a:ext cx="104241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1">
                <a:solidFill>
                  <a:srgbClr val="FAFAFA"/>
                </a:solidFill>
                <a:latin typeface="Aptos"/>
              </a:rPr>
              <a:t>Proposed system compares multiple ML models, uses time-series-aware validation, and explains predictions using SHAP + LIME.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B2B2"/>
                </a:solidFill>
                <a:latin typeface="Aptos"/>
              </a:rPr>
              <a:t>Ten Recent Studies Across Stock Prediction &amp; Explainable AI — Part 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6423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8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AFAFA"/>
                          </a:solidFill>
                          <a:latin typeface="Aptos"/>
                        </a:defRPr>
                      </a:pPr>
                      <a:r>
                        <a:t>Author / Year</a:t>
                      </a:r>
                    </a:p>
                  </a:txBody>
                  <a:tcPr>
                    <a:solidFill>
                      <a:srgbClr val="0C25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AFAFA"/>
                          </a:solidFill>
                          <a:latin typeface="Aptos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0C25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AFAFA"/>
                          </a:solidFill>
                          <a:latin typeface="Aptos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0C25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AFAFA"/>
                          </a:solidFill>
                          <a:latin typeface="Aptos"/>
                        </a:defRPr>
                      </a:pPr>
                      <a:r>
                        <a:t>Gap Relevant to Proposed Work</a:t>
                      </a:r>
                    </a:p>
                  </a:txBody>
                  <a:tcPr>
                    <a:solidFill>
                      <a:srgbClr val="0C25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Goswami &amp; Uddin (2025)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ML + SHAP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Ranks 166 stock-return predictors; finds momentum/trading features highly informative.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Focuses on asset-return predictors; does not provide our full dashboard-oriented pipeline.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Zhan &amp; Kim (2024)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Sliding-window ML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Studies versatile time-window strategies for stock forecasting.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Forecasting strategy is emphasized more than dual SHAP + LIME explanation.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Wang (2024)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Neural-network return prediction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Addresses high-dimensional, nonlinear stock-return prediction using multiple measures.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Deep-learning focus; limited comparative classical/boosting ML + XAI workflow.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S&amp;P 500 study (2024)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RF, SVM, LSTM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Uses historical relative-return features to classify future stock performance.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Different target horizon and task; not a next-day price + explanation dashboard.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Global indices comparison (2024)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SVM vs LSTM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Compares ML/DL models with time-series feature engineering.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Only two model families; limited explainability integration.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B2B2"/>
                </a:solidFill>
                <a:latin typeface="Aptos"/>
              </a:rPr>
              <a:t>Ten Recent Studies Across Stock Prediction &amp; Explainable AI — Part 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6423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8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AFAFA"/>
                          </a:solidFill>
                          <a:latin typeface="Aptos"/>
                        </a:defRPr>
                      </a:pPr>
                      <a:r>
                        <a:t>Author / Year</a:t>
                      </a:r>
                    </a:p>
                  </a:txBody>
                  <a:tcPr>
                    <a:solidFill>
                      <a:srgbClr val="0C25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AFAFA"/>
                          </a:solidFill>
                          <a:latin typeface="Aptos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0C25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AFAFA"/>
                          </a:solidFill>
                          <a:latin typeface="Aptos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0C25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AFAFA"/>
                          </a:solidFill>
                          <a:latin typeface="Aptos"/>
                        </a:defRPr>
                      </a:pPr>
                      <a:r>
                        <a:t>Gap Relevant to Proposed Work</a:t>
                      </a:r>
                    </a:p>
                  </a:txBody>
                  <a:tcPr>
                    <a:solidFill>
                      <a:srgbClr val="0C25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Yeo et al. (2025)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Financial XAI review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Reviews XAI methods and applications across finance, including stock prediction.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Review identifies explainability needs; does not implement our end-to-end comparative system.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Khan et al. (2025)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Model-agnostic XAI review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Systematically evaluates model-agnostic XAI methods in finance.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Highlights transparency challenges but is not a deployed stock forecasting application.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Stock Forecasting Survey (2025)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ML, DL, LLM survey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Reviews feature engineering, ensembles, hybrids, text, RL and LLM-based forecasting.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Broad survey; motivates a focused, practical ML + XAI baseline.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MarketSenseAI (2024)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GPT-4 + financial data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Combines market trends, news, fundamentals and macro factors for interpretable signals.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LLM-heavy architecture is more complex than the proposed ML baseline.</a:t>
                      </a:r>
                    </a:p>
                  </a:txBody>
                  <a:tcPr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Sabharwal et al. (2024)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SHAP for finance managers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Proposes SHAP-oriented explainable AI implementation guidance.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4304D"/>
                          </a:solidFill>
                          <a:latin typeface="Aptos"/>
                        </a:defRPr>
                      </a:pPr>
                      <a:r>
                        <a:t>Supports SHAP adoption; does not compare our five prediction models.</a:t>
                      </a:r>
                    </a:p>
                  </a:txBody>
                  <a:tcPr>
                    <a:solidFill>
                      <a:srgbClr val="E8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1">
                <a:solidFill>
                  <a:srgbClr val="0C2544"/>
                </a:solidFill>
                <a:latin typeface="Aptos"/>
              </a:rPr>
              <a:t>Literature takeaway: ML performance, temporal validation, feature engineering, and explainability must be evaluated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Research Gaps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5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344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C2544"/>
                </a:solidFill>
                <a:latin typeface="Aptos"/>
              </a:rPr>
              <a:t>Limited Integrated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234440"/>
            <a:ext cx="7178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Prediction, EDA, XAI and dashboard delivery are often studied as separate components.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1947672"/>
            <a:ext cx="10012680" cy="7315"/>
          </a:xfrm>
          <a:prstGeom prst="rect">
            <a:avLst/>
          </a:prstGeom>
          <a:solidFill>
            <a:srgbClr val="D2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488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C2544"/>
                </a:solidFill>
                <a:latin typeface="Aptos"/>
              </a:rPr>
              <a:t>Accuracy vs Interpretability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148840"/>
            <a:ext cx="7178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Advanced models can improve performance but may make it difficult to understand feature influence.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2862072"/>
            <a:ext cx="10012680" cy="7315"/>
          </a:xfrm>
          <a:prstGeom prst="rect">
            <a:avLst/>
          </a:prstGeom>
          <a:solidFill>
            <a:srgbClr val="D2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14553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0632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C2544"/>
                </a:solidFill>
                <a:latin typeface="Aptos"/>
              </a:rPr>
              <a:t>Inconsistent Model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063240"/>
            <a:ext cx="7178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Studies use different datasets, horizons, features and metrics, making direct comparison difficult.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3776472"/>
            <a:ext cx="10012680" cy="7315"/>
          </a:xfrm>
          <a:prstGeom prst="rect">
            <a:avLst/>
          </a:prstGeom>
          <a:solidFill>
            <a:srgbClr val="D2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5800" y="4023359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059935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977639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C2544"/>
                </a:solidFill>
                <a:latin typeface="Aptos"/>
              </a:rPr>
              <a:t>Temporal Leakage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977639"/>
            <a:ext cx="7178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Random train-test splitting can allow future information to influence training and inflate results.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4690872"/>
            <a:ext cx="10012680" cy="7315"/>
          </a:xfrm>
          <a:prstGeom prst="rect">
            <a:avLst/>
          </a:prstGeom>
          <a:solidFill>
            <a:srgbClr val="D2E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5800" y="4937759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97433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8920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C2544"/>
                </a:solidFill>
                <a:latin typeface="Aptos"/>
              </a:rPr>
              <a:t>Limited Dual XAI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892040"/>
            <a:ext cx="7178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Many financial XAI studies emphasize one explanation approach; combining global and local views is less common.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Objectives — Data &amp; Predictive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257800" cy="16002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9105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52704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Historical 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938528"/>
            <a:ext cx="40690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3F5871"/>
                </a:solidFill>
                <a:latin typeface="Aptos"/>
              </a:rPr>
              <a:t>Technique: yFinance API — collect OHLCV historical data, timestamps and trading-volume information for selected stocks.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257800" cy="16002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9105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52704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Data Quality &amp; 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38528"/>
            <a:ext cx="40690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3F5871"/>
                </a:solidFill>
                <a:latin typeface="Aptos"/>
              </a:rPr>
              <a:t>Technique: cleaning, missing-value checks, duplicate detection, outlier analysis, descriptive statistics, trend/volatility and correlation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5257800" cy="16002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64845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58444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Financial 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995928"/>
            <a:ext cx="40690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3F5871"/>
                </a:solidFill>
                <a:latin typeface="Aptos"/>
              </a:rPr>
              <a:t>Technique: lagged prices, returns, SMA/EMA, volatility, RSI, MACD and volume-based features.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383280"/>
            <a:ext cx="5257800" cy="16002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0" y="361188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64845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58444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Comparative ML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95928"/>
            <a:ext cx="40690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3F5871"/>
                </a:solidFill>
                <a:latin typeface="Aptos"/>
              </a:rPr>
              <a:t>Technique: Linear Regression, Decision Tree, Random Forest, XGBoost and CatBoost; optional Logistic Regression for direction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Objectives — Evaluation, Explainability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257800" cy="16002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9105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52704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Performance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938528"/>
            <a:ext cx="40690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3F5871"/>
                </a:solidFill>
                <a:latin typeface="Aptos"/>
              </a:rPr>
              <a:t>Technique: MAE, RMSE and R² for price regression; Accuracy, Precision, Recall, F1 and ROC-AUC for direction classification where applicable.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257800" cy="16002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9105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52704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Transparent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38528"/>
            <a:ext cx="40690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3F5871"/>
                </a:solidFill>
                <a:latin typeface="Aptos"/>
              </a:rPr>
              <a:t>Technique: SHAP for global/local feature contribution and LIME for local model-agnostic explanations.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5257800" cy="16002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64845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58444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Interactive Decision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995928"/>
            <a:ext cx="40690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3F5871"/>
                </a:solidFill>
                <a:latin typeface="Aptos"/>
              </a:rPr>
              <a:t>Technique: Streamlit dashboard with stock selector, charts, prediction, signal, model comparison and explanation views.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383280"/>
            <a:ext cx="5257800" cy="16002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0" y="361188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64845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58444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Research Conclusions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95928"/>
            <a:ext cx="40690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3F5871"/>
                </a:solidFill>
                <a:latin typeface="Aptos"/>
              </a:rPr>
              <a:t>Technique: compare predictive performance, feature influence, robustness and practical interpretability; document limitations and future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B2B2"/>
                </a:solidFill>
                <a:latin typeface="Aptos"/>
              </a:rPr>
              <a:t>The Explainable Comparative ML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057400" cy="1508760"/>
          </a:xfrm>
          <a:prstGeom prst="roundRect">
            <a:avLst/>
          </a:prstGeom>
          <a:solidFill>
            <a:srgbClr val="E8F4F5"/>
          </a:solidFill>
          <a:ln w="12700">
            <a:solidFill>
              <a:srgbClr val="0C2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C2544"/>
                </a:solidFill>
                <a:latin typeface="Aptos"/>
              </a:rPr>
              <a:t>TIME-SERIES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3F5871"/>
                </a:solidFill>
                <a:latin typeface="Aptos"/>
              </a:rPr>
              <a:t>Chronological
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057400" cy="1508760"/>
          </a:xfrm>
          <a:prstGeom prst="roundRect">
            <a:avLst/>
          </a:prstGeom>
          <a:solidFill>
            <a:srgbClr val="E8F4F5"/>
          </a:solidFill>
          <a:ln w="12700">
            <a:solidFill>
              <a:srgbClr val="0C2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79" y="210312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C2544"/>
                </a:solidFill>
                <a:latin typeface="Aptos"/>
              </a:rPr>
              <a:t>ML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51460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3F5871"/>
                </a:solidFill>
                <a:latin typeface="Aptos"/>
              </a:rPr>
              <a:t>LR · DT · RF
XGBoost · CatBoost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2057400" cy="1508760"/>
          </a:xfrm>
          <a:prstGeom prst="roundRect">
            <a:avLst/>
          </a:prstGeom>
          <a:solidFill>
            <a:srgbClr val="E8F4F5"/>
          </a:solidFill>
          <a:ln w="12700">
            <a:solidFill>
              <a:srgbClr val="0C2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C2544"/>
                </a:solidFill>
                <a:latin typeface="Aptos"/>
              </a:rPr>
              <a:t>XAI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1460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3F5871"/>
                </a:solidFill>
                <a:latin typeface="Aptos"/>
              </a:rPr>
              <a:t>SHAP
LIME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874519"/>
            <a:ext cx="2057400" cy="1508760"/>
          </a:xfrm>
          <a:prstGeom prst="roundRect">
            <a:avLst/>
          </a:prstGeom>
          <a:solidFill>
            <a:srgbClr val="E8F4F5"/>
          </a:solidFill>
          <a:ln w="12700">
            <a:solidFill>
              <a:srgbClr val="0C2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2103120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C2544"/>
                </a:solidFill>
                <a:latin typeface="Aptos"/>
              </a:rP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51460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3F5871"/>
                </a:solidFill>
                <a:latin typeface="Aptos"/>
              </a:rPr>
              <a:t>Streamlit
Dashboard</a:t>
            </a:r>
          </a:p>
        </p:txBody>
      </p:sp>
      <p:sp>
        <p:nvSpPr>
          <p:cNvPr id="18" name="Chevron 17"/>
          <p:cNvSpPr/>
          <p:nvPr/>
        </p:nvSpPr>
        <p:spPr>
          <a:xfrm>
            <a:off x="2743200" y="2331720"/>
            <a:ext cx="502920" cy="502920"/>
          </a:xfrm>
          <a:prstGeom prst="chevron">
            <a:avLst/>
          </a:prstGeom>
          <a:solidFill>
            <a:srgbClr val="00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5669280" y="2331720"/>
            <a:ext cx="502920" cy="502920"/>
          </a:xfrm>
          <a:prstGeom prst="chevron">
            <a:avLst/>
          </a:prstGeom>
          <a:solidFill>
            <a:srgbClr val="00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hevron 19"/>
          <p:cNvSpPr/>
          <p:nvPr/>
        </p:nvSpPr>
        <p:spPr>
          <a:xfrm>
            <a:off x="8412480" y="2331720"/>
            <a:ext cx="502920" cy="502920"/>
          </a:xfrm>
          <a:prstGeom prst="chevron">
            <a:avLst/>
          </a:prstGeom>
          <a:solidFill>
            <a:srgbClr val="00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160520"/>
            <a:ext cx="10378440" cy="1143000"/>
          </a:xfrm>
          <a:prstGeom prst="roundRect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4407408"/>
            <a:ext cx="9829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1">
                <a:solidFill>
                  <a:srgbClr val="FAFAFA"/>
                </a:solidFill>
                <a:latin typeface="Aptos"/>
              </a:rPr>
              <a:t>Novel contribution: one consistent pipeline links time-series-safe validation, five ML models, dual XAI (SHAP + LIME), and an interactive dashboard so the final prediction is both comparable and interpretable.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920240" cy="109728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3560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0B2B2"/>
                </a:solidFill>
                <a:latin typeface="Aptos"/>
              </a:rPr>
              <a:t>DATA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0C2544"/>
                </a:solidFill>
                <a:latin typeface="Aptos"/>
              </a:rPr>
              <a:t>Yahoo Finance
(yFinance API)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234440"/>
            <a:ext cx="132588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24912" y="1444752"/>
            <a:ext cx="1179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00B2B2"/>
                </a:solidFill>
                <a:latin typeface="Aptos"/>
              </a:rPr>
              <a:t>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1828800"/>
            <a:ext cx="11795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F5871"/>
                </a:solidFill>
                <a:latin typeface="Aptos"/>
              </a:rPr>
              <a:t>Missing values
Duplicates
Outliers
Scaling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7368" y="1234440"/>
            <a:ext cx="123444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1444752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00B2B2"/>
                </a:solidFill>
                <a:latin typeface="Aptos"/>
              </a:rPr>
              <a:t>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828800"/>
            <a:ext cx="10881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F5871"/>
                </a:solidFill>
                <a:latin typeface="Aptos"/>
              </a:rPr>
              <a:t>Statistics
Trends
Correlation
Volatility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31536" y="1234440"/>
            <a:ext cx="160020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04688" y="1444752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00B2B2"/>
                </a:solidFill>
                <a:latin typeface="Aptos"/>
              </a:rP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828800"/>
            <a:ext cx="14538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F5871"/>
                </a:solidFill>
                <a:latin typeface="Aptos"/>
              </a:rPr>
              <a:t>Returns
Lags · SMA/EMA
RSI · MACD · Volume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1464" y="1234440"/>
            <a:ext cx="141732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14616" y="1444752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00B2B2"/>
                </a:solidFill>
                <a:latin typeface="Aptos"/>
              </a:rPr>
              <a:t>ML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1828800"/>
            <a:ext cx="12710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F5871"/>
                </a:solidFill>
                <a:latin typeface="Aptos"/>
              </a:rPr>
              <a:t>LR · DT · RF
XGBoost · CatBoost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8512" y="1234440"/>
            <a:ext cx="141732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41664" y="1444752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00B2B2"/>
                </a:solidFill>
                <a:latin typeface="Aptos"/>
              </a:rP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828800"/>
            <a:ext cx="12710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F5871"/>
                </a:solidFill>
                <a:latin typeface="Aptos"/>
              </a:rPr>
              <a:t>MAE · RMSE · R²
Accuracy · F1 · ROC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234440"/>
            <a:ext cx="109728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68712" y="1444752"/>
            <a:ext cx="950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00B2B2"/>
                </a:solidFill>
                <a:latin typeface="Aptos"/>
              </a:rPr>
              <a:t>XAI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8712" y="1828800"/>
            <a:ext cx="950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F5871"/>
                </a:solidFill>
                <a:latin typeface="Aptos"/>
              </a:rPr>
              <a:t>SHAP
LIME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02568" y="1234440"/>
            <a:ext cx="141732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75720" y="1444752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00B2B2"/>
                </a:solidFill>
                <a:latin typeface="Aptos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1828800"/>
            <a:ext cx="12710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F5871"/>
                </a:solidFill>
                <a:latin typeface="Aptos"/>
              </a:rPr>
              <a:t>Streamlit
Prediction + Signal
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578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00B2B2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1143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C2544"/>
                </a:solidFill>
                <a:latin typeface="Aptos"/>
              </a:rPr>
              <a:t>Stock
Selection / Ticker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657600"/>
            <a:ext cx="8458200" cy="1417320"/>
          </a:xfrm>
          <a:prstGeom prst="roundRect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03120" y="3886200"/>
            <a:ext cx="7909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0B2B2"/>
                </a:solidFill>
                <a:latin typeface="Aptos"/>
              </a:rPr>
              <a:t>FINAL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4297680"/>
            <a:ext cx="7818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AFAFA"/>
                </a:solidFill>
                <a:latin typeface="Aptos"/>
              </a:rPr>
              <a:t>Predicted Price  +  Bullish/Bearish Signal  +  Model Comparison  +  SHAP/LIME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881360" cy="11430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700784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91056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C2544"/>
                </a:solidFill>
                <a:latin typeface="Aptos"/>
              </a:rPr>
              <a:t>Accessible Market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600200"/>
            <a:ext cx="69037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Yahoo Finance data can be collected through yFinance for historical OHLCV analysis; selected stocks and time ranges can be reproduced.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10881360" cy="11430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3255264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145536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C2544"/>
                </a:solidFill>
                <a:latin typeface="Aptos"/>
              </a:rPr>
              <a:t>Mature Open-Source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154680"/>
            <a:ext cx="69037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Python, pandas, NumPy, scikit-learn, XGBoost, CatBoost, SHAP, LIME, Matplotlib/Plotly and Streamlit provide the required tooling.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80560"/>
            <a:ext cx="10881360" cy="114300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4809744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700016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C2544"/>
                </a:solidFill>
                <a:latin typeface="Aptos"/>
              </a:rPr>
              <a:t>Achievable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4709160"/>
            <a:ext cx="69037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Linear/Tree/Ensemble models and SHAP/LIME can be trained on standard student hardware; advanced deep-learning models are optional future scope.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Project Plan — 3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29000" cy="42519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0B2B2"/>
                </a:solidFill>
                <a:latin typeface="Aptos"/>
              </a:rPr>
              <a:t>PHASE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C2544"/>
                </a:solidFill>
                <a:latin typeface="Aptos"/>
              </a:rPr>
              <a:t>Conceptualization &amp;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788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rPr dirty="0"/>
              <a:t>• Problem definition</a:t>
            </a:r>
          </a:p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rPr dirty="0"/>
              <a:t>• Literature survey</a:t>
            </a:r>
          </a:p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rPr dirty="0"/>
              <a:t>• Research-gap identification</a:t>
            </a:r>
          </a:p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rPr dirty="0"/>
              <a:t>• Data-source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2519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0B2B2"/>
                </a:solidFill>
                <a:latin typeface="Aptos"/>
              </a:rPr>
              <a:t>PHASE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C2544"/>
                </a:solidFill>
                <a:latin typeface="Aptos"/>
              </a:rPr>
              <a:t>Data Engineering &amp; Intelligence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788920"/>
            <a:ext cx="2788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t>• Data cleaning &amp; EDA</a:t>
            </a:r>
          </a:p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t>• Feature engineering</a:t>
            </a:r>
          </a:p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t>• Train 5 core ML models</a:t>
            </a:r>
          </a:p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t>• Model evaluation + XAI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71600"/>
            <a:ext cx="3429000" cy="42519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627632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0B2B2"/>
                </a:solidFill>
                <a:latin typeface="Aptos"/>
              </a:rPr>
              <a:t>PHASE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C2544"/>
                </a:solidFill>
                <a:latin typeface="Aptos"/>
              </a:rPr>
              <a:t>Delivery, Validation &amp;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88920"/>
            <a:ext cx="2788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t>• Streamlit dashboard</a:t>
            </a:r>
          </a:p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t>• SHAP/LIME visualization</a:t>
            </a:r>
          </a:p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t>• Comparative analysis</a:t>
            </a:r>
          </a:p>
          <a:p>
            <a:pPr>
              <a:spcAft>
                <a:spcPts val="600"/>
              </a:spcAft>
              <a:defRPr sz="1130">
                <a:solidFill>
                  <a:srgbClr val="3F5871"/>
                </a:solidFill>
                <a:latin typeface="Aptos"/>
              </a:defRPr>
            </a:pPr>
            <a:r>
              <a:t>• Documentation &amp; final conclusions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C2544"/>
                </a:solidFill>
                <a:latin typeface="Georg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3F5871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25780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9105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52704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Comparative ML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947672"/>
            <a:ext cx="4069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Uses Linear Regression, Decision Tree, Random Forest, XGBoost and CatBoost instead of relying on one algorithm.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25780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9105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52704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Time-Series-Aware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47672"/>
            <a:ext cx="4069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Preserves chronological order and reduces the risk of future-data leakage.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39"/>
            <a:ext cx="525780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520439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57015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49300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Explainable Predictions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913631"/>
            <a:ext cx="4069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SHAP and LIME identify which engineered financial features influence model outputs.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91839"/>
            <a:ext cx="5257800" cy="1508760"/>
          </a:xfrm>
          <a:prstGeom prst="round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0" y="3520439"/>
            <a:ext cx="457200" cy="457200"/>
          </a:xfrm>
          <a:prstGeom prst="ellipse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557015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AFAFA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49300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0C2544"/>
                </a:solidFill>
                <a:latin typeface="Aptos"/>
              </a:rPr>
              <a:t>Practical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13631"/>
            <a:ext cx="4069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F5871"/>
                </a:solidFill>
                <a:latin typeface="Aptos"/>
              </a:rPr>
              <a:t>Streamlit combines prediction, signals, model comparison, visual analytics and explanations in one interface.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63440" y="5943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0B2B2"/>
                </a:solidFill>
                <a:latin typeface="Aptos"/>
              </a:rP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41732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B2B2"/>
                </a:solidFill>
                <a:latin typeface="Aptos"/>
              </a:rP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1" y="1816274"/>
            <a:ext cx="49377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dirty="0">
                <a:solidFill>
                  <a:srgbClr val="FAFAFA"/>
                </a:solidFill>
                <a:latin typeface="Aptos"/>
              </a:rPr>
              <a:t>Tanek Ghantasala - 2420030599</a:t>
            </a:r>
            <a:endParaRPr sz="1500" b="0" i="0" dirty="0">
              <a:solidFill>
                <a:srgbClr val="FAFAFA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0" y="1508760"/>
            <a:ext cx="13716" cy="2834640"/>
          </a:xfrm>
          <a:prstGeom prst="rect">
            <a:avLst/>
          </a:prstGeom>
          <a:solidFill>
            <a:srgbClr val="00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16002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B2B2"/>
                </a:solidFill>
                <a:latin typeface="Aptos"/>
              </a:rPr>
              <a:t>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057400"/>
            <a:ext cx="374903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FAFAFA"/>
                </a:solidFill>
                <a:latin typeface="Aptos"/>
              </a:rPr>
              <a:t>Dr. K Swapnika</a:t>
            </a:r>
            <a:endParaRPr sz="1800" b="1" i="0" dirty="0">
              <a:solidFill>
                <a:srgbClr val="FAFAF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23760" y="28346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0B2B2"/>
                </a:solidFill>
                <a:latin typeface="Aptos"/>
              </a:rPr>
              <a:t>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24612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ptos"/>
              </a:rPr>
              <a:t>CSE Department, KL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0" y="6510528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FAFAF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1273</Words>
  <Application>Microsoft Macintosh PowerPoint</Application>
  <PresentationFormat>Widescreen</PresentationFormat>
  <Paragraphs>210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Tanek Ghantasala</cp:lastModifiedBy>
  <cp:revision>4</cp:revision>
  <dcterms:created xsi:type="dcterms:W3CDTF">2013-01-27T09:14:16Z</dcterms:created>
  <dcterms:modified xsi:type="dcterms:W3CDTF">2026-08-14T04:52:15Z</dcterms:modified>
  <cp:category/>
</cp:coreProperties>
</file>